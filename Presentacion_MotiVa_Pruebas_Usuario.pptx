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 w="12700">
            <a:solidFill>
              <a:srgbClr val="0D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13248"/>
            <a:ext cx="12191695" cy="1444752"/>
          </a:xfrm>
          <a:prstGeom prst="rect">
            <a:avLst/>
          </a:prstGeom>
          <a:solidFill>
            <a:srgbClr val="162743"/>
          </a:solidFill>
          <a:ln w="12700">
            <a:solidFill>
              <a:srgbClr val="16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502920"/>
            <a:ext cx="5102352" cy="37947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583680" y="502920"/>
            <a:ext cx="5102352" cy="3794760"/>
          </a:xfrm>
          <a:prstGeom prst="rect">
            <a:avLst/>
          </a:prstGeom>
          <a:solidFill>
            <a:srgbClr val="0D182B"/>
          </a:solidFill>
          <a:ln w="12700">
            <a:solidFill>
              <a:srgbClr val="0D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704088"/>
            <a:ext cx="4700016" cy="3383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024128"/>
            <a:ext cx="5120640" cy="73558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O" sz="4300" b="1" i="0" dirty="0">
                <a:solidFill>
                  <a:srgbClr val="FFFFFF"/>
                </a:solidFill>
                <a:latin typeface="Aptos"/>
              </a:rPr>
              <a:t>MOTI-VA</a:t>
            </a:r>
            <a:endParaRPr sz="4300"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1901952"/>
            <a:ext cx="5120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 i="0">
                <a:solidFill>
                  <a:srgbClr val="26BEB0"/>
                </a:solidFill>
                <a:latin typeface="Aptos"/>
              </a:rPr>
              <a:t>Movimiento que se puede observar.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87168"/>
            <a:ext cx="493776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4DFEE"/>
                </a:solidFill>
                <a:latin typeface="Aptos"/>
              </a:rPr>
              <a:t>Introducción al prototipo · pruebas con usuario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90088"/>
            <a:ext cx="53035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B9C8DD"/>
                </a:solidFill>
                <a:latin typeface="Aptos"/>
              </a:rPr>
              <a:t>Ejercicios interactivos con seguimiento de manos sin contacto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07024"/>
            <a:ext cx="36576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 dirty="0" err="1">
                <a:solidFill>
                  <a:srgbClr val="B9C8DD"/>
                </a:solidFill>
                <a:latin typeface="Aptos"/>
              </a:rPr>
              <a:t>presentación</a:t>
            </a:r>
            <a:r>
              <a:rPr sz="1000" b="0" i="0" dirty="0">
                <a:solidFill>
                  <a:srgbClr val="B9C8DD"/>
                </a:solidFill>
                <a:latin typeface="Aptos"/>
              </a:rPr>
              <a:t> de </a:t>
            </a:r>
            <a:r>
              <a:rPr sz="1000" b="0" i="0" dirty="0" err="1">
                <a:solidFill>
                  <a:srgbClr val="B9C8DD"/>
                </a:solidFill>
                <a:latin typeface="Aptos"/>
              </a:rPr>
              <a:t>pruebas</a:t>
            </a:r>
            <a:endParaRPr sz="1000" b="0" i="0" dirty="0">
              <a:solidFill>
                <a:srgbClr val="B9C8DD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173968" y="5907024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9C8D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EL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E2A3D"/>
                </a:solidFill>
                <a:latin typeface="Aptos"/>
              </a:rPr>
              <a:t>El movimiento motor necesita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No basta con saber si una tarea terminó: importa cómo se realizó.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3520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221992"/>
            <a:ext cx="640080" cy="640080"/>
          </a:xfrm>
          <a:prstGeom prst="ellipse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31136"/>
            <a:ext cx="6400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249424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E2A3D"/>
                </a:solidFill>
                <a:latin typeface="Aptos"/>
              </a:rPr>
              <a:t>Movimiento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596896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17084"/>
                </a:solidFill>
                <a:latin typeface="Aptos"/>
              </a:rPr>
              <a:t>mano · muñeca · antebrazo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19856"/>
            <a:ext cx="256032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Aptos"/>
              </a:rPr>
              <a:t>¿Qué zona participa?
¿Hay compensaciones?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590288"/>
            <a:ext cx="269748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17084"/>
                </a:solidFill>
                <a:latin typeface="Aptos"/>
              </a:rPr>
              <a:t>La calidad del movimiento puede quedar oculta detrás del resultado final.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74519"/>
            <a:ext cx="3520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645152" y="2221992"/>
            <a:ext cx="640080" cy="640080"/>
          </a:xfrm>
          <a:prstGeom prst="ellipse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2231136"/>
            <a:ext cx="6400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249424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E2A3D"/>
                </a:solidFill>
                <a:latin typeface="Aptos"/>
              </a:rPr>
              <a:t>Repetición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596896"/>
            <a:ext cx="2103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17084"/>
                </a:solidFill>
                <a:latin typeface="Aptos"/>
              </a:rPr>
              <a:t>fatiga · motivación · atención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3419856"/>
            <a:ext cx="26517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Aptos"/>
              </a:rPr>
              <a:t>Ejercicios repetitivos
pueden perder atractivo.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4590288"/>
            <a:ext cx="272491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17084"/>
                </a:solidFill>
                <a:latin typeface="Aptos"/>
              </a:rPr>
              <a:t>La experiencia del usuario influye en la continuidad del ejercicio.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9872" y="1874519"/>
            <a:ext cx="352044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421624" y="2221992"/>
            <a:ext cx="640080" cy="640080"/>
          </a:xfrm>
          <a:prstGeom prst="ellipse">
            <a:avLst/>
          </a:prstGeom>
          <a:solidFill>
            <a:srgbClr val="DC5E8B"/>
          </a:solidFill>
          <a:ln w="12700">
            <a:solidFill>
              <a:srgbClr val="DC5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21624" y="2231136"/>
            <a:ext cx="6400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2" y="2249424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1E2A3D"/>
                </a:solidFill>
                <a:latin typeface="Aptos"/>
              </a:rPr>
              <a:t>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2596896"/>
            <a:ext cx="2103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17084"/>
                </a:solidFill>
                <a:latin typeface="Aptos"/>
              </a:rPr>
              <a:t>en vivo · comprensible · medible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3419856"/>
            <a:ext cx="265176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E2A3D"/>
                </a:solidFill>
                <a:latin typeface="Aptos"/>
              </a:rPr>
              <a:t>¿Cómo saber si la ejecución
se puede mejorar?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4590288"/>
            <a:ext cx="272491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17084"/>
                </a:solidFill>
                <a:latin typeface="Aptos"/>
              </a:rPr>
              <a:t>La observación y el registro pueden complementarse.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LA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E2A3D"/>
                </a:solidFill>
                <a:latin typeface="Aptos"/>
              </a:rPr>
              <a:t>Hacer visible el movimiento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Un prototipo para explorar ejercicios guiados, interactivos y cuantificables.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029968"/>
            <a:ext cx="2743200" cy="2057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37943" y="2331720"/>
            <a:ext cx="621792" cy="621792"/>
          </a:xfrm>
          <a:prstGeom prst="ellipse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37943" y="2340863"/>
            <a:ext cx="62179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ptos"/>
              </a:rPr>
              <a:t>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36392"/>
            <a:ext cx="2103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2A3D"/>
                </a:solidFill>
                <a:latin typeface="Aptos"/>
              </a:rPr>
              <a:t>MOVIMIENTO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493008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617084"/>
                </a:solidFill>
                <a:latin typeface="Aptos"/>
              </a:rPr>
              <a:t>mano sin contacto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66160" y="3063240"/>
            <a:ext cx="530351" cy="0"/>
          </a:xfrm>
          <a:prstGeom prst="line">
            <a:avLst/>
          </a:prstGeom>
          <a:ln w="27940">
            <a:solidFill>
              <a:srgbClr val="26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60520" y="2029968"/>
            <a:ext cx="2743200" cy="2057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221224" y="2331720"/>
            <a:ext cx="621792" cy="621792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21224" y="2340863"/>
            <a:ext cx="62179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136392"/>
            <a:ext cx="2103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2A3D"/>
                </a:solidFill>
                <a:latin typeface="Aptos"/>
              </a:rPr>
              <a:t>EXPERIENCIA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3493008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617084"/>
                </a:solidFill>
                <a:latin typeface="Aptos"/>
              </a:rPr>
              <a:t>ejercicio interactivo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49440" y="3063240"/>
            <a:ext cx="530352" cy="0"/>
          </a:xfrm>
          <a:prstGeom prst="line">
            <a:avLst/>
          </a:prstGeom>
          <a:ln w="27940">
            <a:solidFill>
              <a:srgbClr val="26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43800" y="2029968"/>
            <a:ext cx="2743200" cy="20574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04504" y="2331720"/>
            <a:ext cx="621792" cy="621792"/>
          </a:xfrm>
          <a:prstGeom prst="ellipse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04504" y="2340863"/>
            <a:ext cx="62179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136392"/>
            <a:ext cx="2103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E2A3D"/>
                </a:solidFill>
                <a:latin typeface="Aptos"/>
              </a:rPr>
              <a:t>EVIDENCIA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3493008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617084"/>
                </a:solidFill>
                <a:latin typeface="Aptos"/>
              </a:rPr>
              <a:t>métricas + 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983480"/>
            <a:ext cx="8321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27E7B"/>
                </a:solidFill>
                <a:latin typeface="Aptos"/>
              </a:rPr>
              <a:t>El prototipo no diagnostica ni reemplaza la intervención profesional.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431536"/>
            <a:ext cx="8503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17084"/>
                </a:solidFill>
                <a:latin typeface="Aptos"/>
              </a:rPr>
              <a:t>Aporta una capa de apoyo para guiar la tarea y observar la ejecución.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E2A3D"/>
                </a:solidFill>
                <a:latin typeface="Aptos"/>
              </a:rPr>
              <a:t>Del gesto a la sugerencia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El usuario interactúa; el sistema traduce ese movimiento en información útil.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58952" y="2240280"/>
            <a:ext cx="384048" cy="384048"/>
          </a:xfrm>
          <a:prstGeom prst="ellipse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24942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231136"/>
            <a:ext cx="4754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437CE8"/>
                </a:solidFill>
                <a:latin typeface="Aptos"/>
              </a:rPr>
              <a:t>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90088"/>
            <a:ext cx="17007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2A3D"/>
                </a:solidFill>
                <a:latin typeface="Aptos"/>
              </a:rPr>
              <a:t>Captura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01568"/>
            <a:ext cx="17007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17084"/>
                </a:solidFill>
                <a:latin typeface="Aptos"/>
              </a:rPr>
              <a:t>mano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97479" y="3154680"/>
            <a:ext cx="164593" cy="0"/>
          </a:xfrm>
          <a:prstGeom prst="line">
            <a:avLst/>
          </a:prstGeom>
          <a:ln w="20320">
            <a:solidFill>
              <a:srgbClr val="26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62072" y="20574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26664" y="2240280"/>
            <a:ext cx="384048" cy="384048"/>
          </a:xfrm>
          <a:prstGeom prst="ellipse">
            <a:avLst/>
          </a:prstGeom>
          <a:solidFill>
            <a:srgbClr val="8064D2"/>
          </a:solidFill>
          <a:ln w="12700">
            <a:solidFill>
              <a:srgbClr val="806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26664" y="224942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39" y="2231136"/>
            <a:ext cx="4754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8064D2"/>
                </a:solidFill>
                <a:latin typeface="Aptos"/>
              </a:rPr>
              <a:t>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990088"/>
            <a:ext cx="17007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2A3D"/>
                </a:solidFill>
                <a:latin typeface="Aptos"/>
              </a:rPr>
              <a:t>Detecta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401568"/>
            <a:ext cx="17007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17084"/>
                </a:solidFill>
                <a:latin typeface="Aptos"/>
              </a:rPr>
              <a:t>gestos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65192" y="3154680"/>
            <a:ext cx="164591" cy="0"/>
          </a:xfrm>
          <a:prstGeom prst="line">
            <a:avLst/>
          </a:prstGeom>
          <a:ln w="20320">
            <a:solidFill>
              <a:srgbClr val="26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29784" y="20574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294376" y="2240280"/>
            <a:ext cx="384048" cy="384048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94376" y="224942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8152" y="2231136"/>
            <a:ext cx="4754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26BEB0"/>
                </a:solidFill>
                <a:latin typeface="Aptos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2990088"/>
            <a:ext cx="17007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2A3D"/>
                </a:solidFill>
                <a:latin typeface="Aptos"/>
              </a:rPr>
              <a:t>Interactúa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3401568"/>
            <a:ext cx="17007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17084"/>
                </a:solidFill>
                <a:latin typeface="Aptos"/>
              </a:rPr>
              <a:t>tarea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32904" y="3154680"/>
            <a:ext cx="164592" cy="0"/>
          </a:xfrm>
          <a:prstGeom prst="line">
            <a:avLst/>
          </a:prstGeom>
          <a:ln w="20320">
            <a:solidFill>
              <a:srgbClr val="26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97496" y="20574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62088" y="2240280"/>
            <a:ext cx="384048" cy="384048"/>
          </a:xfrm>
          <a:prstGeom prst="ellipse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62088" y="224942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55864" y="2231136"/>
            <a:ext cx="4754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F29D42"/>
                </a:solidFill>
                <a:latin typeface="Aptos"/>
              </a:rPr>
              <a:t>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98664" y="2990088"/>
            <a:ext cx="17007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2A3D"/>
                </a:solidFill>
                <a:latin typeface="Aptos"/>
              </a:rPr>
              <a:t>Mide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8664" y="3401568"/>
            <a:ext cx="17007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17084"/>
                </a:solidFill>
                <a:latin typeface="Aptos"/>
              </a:rPr>
              <a:t>zonas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500616" y="3154680"/>
            <a:ext cx="164592" cy="0"/>
          </a:xfrm>
          <a:prstGeom prst="line">
            <a:avLst/>
          </a:prstGeom>
          <a:ln w="20320">
            <a:solidFill>
              <a:srgbClr val="26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665208" y="2057400"/>
            <a:ext cx="21031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829800" y="2240280"/>
            <a:ext cx="384048" cy="384048"/>
          </a:xfrm>
          <a:prstGeom prst="ellipse">
            <a:avLst/>
          </a:prstGeom>
          <a:solidFill>
            <a:srgbClr val="DC5E8B"/>
          </a:solidFill>
          <a:ln w="12700">
            <a:solidFill>
              <a:srgbClr val="DC5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29800" y="2249424"/>
            <a:ext cx="384048" cy="3657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23576" y="2231136"/>
            <a:ext cx="475488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2000" b="1" i="0">
                <a:solidFill>
                  <a:srgbClr val="DC5E8B"/>
                </a:solidFill>
                <a:latin typeface="Aptos"/>
              </a:rP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66376" y="2990088"/>
            <a:ext cx="1700784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1E2A3D"/>
                </a:solidFill>
                <a:latin typeface="Aptos"/>
              </a:rPr>
              <a:t>Retroalimenta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66376" y="3401568"/>
            <a:ext cx="1700784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617084"/>
                </a:solidFill>
                <a:latin typeface="Aptos"/>
              </a:rPr>
              <a:t>feedback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" y="4892040"/>
            <a:ext cx="10058400" cy="658368"/>
          </a:xfrm>
          <a:prstGeom prst="roundRect">
            <a:avLst/>
          </a:prstGeom>
          <a:solidFill>
            <a:srgbClr val="162743"/>
          </a:solidFill>
          <a:ln w="12700">
            <a:solidFill>
              <a:srgbClr val="16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325880" y="5074920"/>
            <a:ext cx="95097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ptos"/>
              </a:rPr>
              <a:t>La lógica del juego no depende directamente del sensor: recibe datos de movimiento desacoplados.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E2A3D"/>
                </a:solidFill>
                <a:latin typeface="Aptos"/>
              </a:rPr>
              <a:t>Cinco momentos para una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La persona siempre sabe en qué fase se encuentra.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720" y="3273552"/>
            <a:ext cx="9729216" cy="0"/>
          </a:xfrm>
          <a:prstGeom prst="line">
            <a:avLst/>
          </a:prstGeom>
          <a:ln w="3810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143000" y="2834640"/>
            <a:ext cx="877824" cy="877824"/>
          </a:xfrm>
          <a:prstGeom prst="ellipse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843784"/>
            <a:ext cx="87782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69080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E2A3D"/>
                </a:solidFill>
                <a:latin typeface="Aptos"/>
              </a:rPr>
              <a:t>Orientación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34840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17084"/>
                </a:solidFill>
                <a:latin typeface="Aptos"/>
              </a:rPr>
              <a:t>prepararse</a:t>
            </a:r>
          </a:p>
        </p:txBody>
      </p:sp>
      <p:sp>
        <p:nvSpPr>
          <p:cNvPr id="12" name="Oval 11"/>
          <p:cNvSpPr/>
          <p:nvPr/>
        </p:nvSpPr>
        <p:spPr>
          <a:xfrm>
            <a:off x="3291840" y="2843784"/>
            <a:ext cx="877824" cy="877824"/>
          </a:xfrm>
          <a:prstGeom prst="ellipse">
            <a:avLst/>
          </a:prstGeom>
          <a:solidFill>
            <a:srgbClr val="8064D2"/>
          </a:solidFill>
          <a:ln w="12700">
            <a:solidFill>
              <a:srgbClr val="806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2852928"/>
            <a:ext cx="87782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4078224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 dirty="0" err="1">
                <a:solidFill>
                  <a:srgbClr val="1E2A3D"/>
                </a:solidFill>
                <a:latin typeface="Aptos"/>
              </a:rPr>
              <a:t>Cuenta</a:t>
            </a:r>
            <a:r>
              <a:rPr sz="1300" b="1" i="0" dirty="0">
                <a:solidFill>
                  <a:srgbClr val="1E2A3D"/>
                </a:solidFill>
                <a:latin typeface="Aptos"/>
              </a:rPr>
              <a:t> atrás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4443984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 dirty="0" err="1">
                <a:solidFill>
                  <a:srgbClr val="617084"/>
                </a:solidFill>
                <a:latin typeface="Aptos"/>
              </a:rPr>
              <a:t>entender</a:t>
            </a:r>
            <a:r>
              <a:rPr sz="1000" b="0" i="0" dirty="0">
                <a:solidFill>
                  <a:srgbClr val="617084"/>
                </a:solidFill>
                <a:latin typeface="Aptos"/>
              </a:rPr>
              <a:t> la </a:t>
            </a:r>
            <a:r>
              <a:rPr sz="1000" b="0" i="0" dirty="0" err="1">
                <a:solidFill>
                  <a:srgbClr val="617084"/>
                </a:solidFill>
                <a:latin typeface="Aptos"/>
              </a:rPr>
              <a:t>tarea</a:t>
            </a:r>
            <a:endParaRPr sz="1000" b="0" i="0" dirty="0">
              <a:solidFill>
                <a:srgbClr val="617084"/>
              </a:solidFill>
              <a:latin typeface="Apto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40680" y="2834640"/>
            <a:ext cx="877824" cy="877824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2843784"/>
            <a:ext cx="87782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4069080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E2A3D"/>
                </a:solidFill>
                <a:latin typeface="Aptos"/>
              </a:rPr>
              <a:t>Ejercicio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4434840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17084"/>
                </a:solidFill>
                <a:latin typeface="Aptos"/>
              </a:rPr>
              <a:t>interactuar</a:t>
            </a:r>
          </a:p>
        </p:txBody>
      </p:sp>
      <p:sp>
        <p:nvSpPr>
          <p:cNvPr id="20" name="Oval 19"/>
          <p:cNvSpPr/>
          <p:nvPr/>
        </p:nvSpPr>
        <p:spPr>
          <a:xfrm>
            <a:off x="7887617" y="2834640"/>
            <a:ext cx="877824" cy="877824"/>
          </a:xfrm>
          <a:prstGeom prst="ellipse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87617" y="2843784"/>
            <a:ext cx="877824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7848" y="4069080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E2A3D"/>
                </a:solidFill>
                <a:latin typeface="Aptos"/>
              </a:rPr>
              <a:t>Resultados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7848" y="4434840"/>
            <a:ext cx="17373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17084"/>
                </a:solidFill>
                <a:latin typeface="Aptos"/>
              </a:rPr>
              <a:t>ver desempeño</a:t>
            </a:r>
          </a:p>
        </p:txBody>
      </p:sp>
      <p:sp>
        <p:nvSpPr>
          <p:cNvPr id="24" name="Oval 23"/>
          <p:cNvSpPr/>
          <p:nvPr/>
        </p:nvSpPr>
        <p:spPr>
          <a:xfrm>
            <a:off x="10012680" y="2834640"/>
            <a:ext cx="965608" cy="877824"/>
          </a:xfrm>
          <a:prstGeom prst="ellipse">
            <a:avLst/>
          </a:prstGeom>
          <a:solidFill>
            <a:srgbClr val="DC5E8B"/>
          </a:solidFill>
          <a:ln w="12700">
            <a:solidFill>
              <a:srgbClr val="DC5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12680" y="2843784"/>
            <a:ext cx="965608" cy="8595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39936" y="4069080"/>
            <a:ext cx="1911097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E2A3D"/>
                </a:solidFill>
                <a:latin typeface="Aptos"/>
              </a:rPr>
              <a:t>Resumen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9936" y="4434840"/>
            <a:ext cx="1911097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17084"/>
                </a:solidFill>
                <a:latin typeface="Aptos"/>
              </a:rPr>
              <a:t>reflexionar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01952" y="5376672"/>
            <a:ext cx="8394192" cy="512064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94560" y="5532120"/>
            <a:ext cx="7818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127E7B"/>
                </a:solidFill>
                <a:latin typeface="Aptos"/>
              </a:rPr>
              <a:t>Duración breve · instrucciones claras · posibilidad de detenerse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LAS MECÁNICAS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E2A3D"/>
                </a:solidFill>
                <a:latin typeface="Aptos"/>
              </a:rPr>
              <a:t>Tres formas de poner el movimiento a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Cada ejercicio enfatiza una combinación distinta de precisión, alcance y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901952"/>
            <a:ext cx="3273552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792" y="1901952"/>
            <a:ext cx="3273552" cy="109728"/>
          </a:xfrm>
          <a:prstGeom prst="rect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artel_insert.jpg"/>
          <p:cNvPicPr>
            <a:picLocks noChangeAspect="1"/>
          </p:cNvPicPr>
          <p:nvPr/>
        </p:nvPicPr>
        <p:blipFill>
          <a:blip r:embed="rId2"/>
          <a:srcRect l="16563" t="35065" r="17379" b="33766"/>
          <a:stretch>
            <a:fillRect/>
          </a:stretch>
        </p:blipFill>
        <p:spPr>
          <a:xfrm>
            <a:off x="1274064" y="2706624"/>
            <a:ext cx="1944997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0392" y="3886200"/>
            <a:ext cx="278892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O" sz="1700" b="1" i="0" dirty="0">
                <a:solidFill>
                  <a:srgbClr val="1E2A3D"/>
                </a:solidFill>
                <a:latin typeface="Aptos"/>
              </a:rPr>
              <a:t>Insertar piezas</a:t>
            </a:r>
            <a:endParaRPr sz="1700" b="1" i="0" dirty="0">
              <a:solidFill>
                <a:srgbClr val="1E2A3D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0392" y="4325112"/>
            <a:ext cx="2788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617084"/>
                </a:solidFill>
                <a:latin typeface="Aptos"/>
              </a:rPr>
              <a:t>agarrar · transportar · encajar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4882896"/>
            <a:ext cx="2788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26BEB0"/>
                </a:solidFill>
                <a:latin typeface="Aptos"/>
              </a:rPr>
              <a:t>ver detalle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901952"/>
            <a:ext cx="3273552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33087" y="1901952"/>
            <a:ext cx="3273552" cy="109728"/>
          </a:xfrm>
          <a:prstGeom prst="rect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artel_Tou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2212848"/>
            <a:ext cx="2944368" cy="14081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61688" y="3886200"/>
            <a:ext cx="278892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O" sz="1700" b="1" i="0" dirty="0">
                <a:solidFill>
                  <a:srgbClr val="1E2A3D"/>
                </a:solidFill>
                <a:latin typeface="Aptos"/>
              </a:rPr>
              <a:t>Toque a Toque</a:t>
            </a:r>
            <a:endParaRPr sz="1700" b="1" i="0" dirty="0">
              <a:solidFill>
                <a:srgbClr val="1E2A3D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61688" y="4325112"/>
            <a:ext cx="2788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617084"/>
                </a:solidFill>
                <a:latin typeface="Aptos"/>
              </a:rPr>
              <a:t>alcanzar · reaccionar · sostener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4882896"/>
            <a:ext cx="2788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437CE8"/>
                </a:solidFill>
                <a:latin typeface="Aptos"/>
              </a:rPr>
              <a:t>ver detalle 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44383" y="1901952"/>
            <a:ext cx="3273552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44383" y="1901952"/>
            <a:ext cx="3273552" cy="109728"/>
          </a:xfrm>
          <a:prstGeom prst="rect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artel_Hun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75" y="2212848"/>
            <a:ext cx="2944368" cy="140817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872983" y="3886200"/>
            <a:ext cx="2788920" cy="3354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s-CO" sz="1700" b="1" i="0" dirty="0">
                <a:solidFill>
                  <a:srgbClr val="1E2A3D"/>
                </a:solidFill>
                <a:latin typeface="Aptos"/>
              </a:rPr>
              <a:t>Cazador de patos</a:t>
            </a:r>
            <a:endParaRPr sz="1700" b="1" i="0" dirty="0">
              <a:solidFill>
                <a:srgbClr val="1E2A3D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72983" y="4325112"/>
            <a:ext cx="2788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617084"/>
                </a:solidFill>
                <a:latin typeface="Aptos"/>
              </a:rPr>
              <a:t>apuntar · seguir · disparar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4882896"/>
            <a:ext cx="278892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F29D42"/>
                </a:solidFill>
                <a:latin typeface="Aptos"/>
              </a:rPr>
              <a:t>ver detalle 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EJERCICIO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O" sz="2700" b="1" i="0" dirty="0">
                <a:solidFill>
                  <a:srgbClr val="1E2A3D"/>
                </a:solidFill>
                <a:latin typeface="Aptos"/>
              </a:rPr>
              <a:t>Insertar piezas</a:t>
            </a:r>
            <a:r>
              <a:rPr sz="2700" b="1" i="0" dirty="0">
                <a:solidFill>
                  <a:srgbClr val="1E2A3D"/>
                </a:solidFill>
                <a:latin typeface="Aptos"/>
              </a:rPr>
              <a:t> · </a:t>
            </a:r>
            <a:r>
              <a:rPr sz="2700" b="1" i="0" dirty="0" err="1">
                <a:solidFill>
                  <a:srgbClr val="1E2A3D"/>
                </a:solidFill>
                <a:latin typeface="Aptos"/>
              </a:rPr>
              <a:t>precisión</a:t>
            </a:r>
            <a:r>
              <a:rPr sz="2700" b="1" i="0" dirty="0">
                <a:solidFill>
                  <a:srgbClr val="1E2A3D"/>
                </a:solidFill>
                <a:latin typeface="Aptos"/>
              </a:rPr>
              <a:t> y </a:t>
            </a:r>
            <a:r>
              <a:rPr sz="2700" b="1" i="0" dirty="0" err="1">
                <a:solidFill>
                  <a:srgbClr val="1E2A3D"/>
                </a:solidFill>
                <a:latin typeface="Aptos"/>
              </a:rPr>
              <a:t>manipulación</a:t>
            </a:r>
            <a:endParaRPr sz="2700" b="1" i="0" dirty="0">
              <a:solidFill>
                <a:srgbClr val="1E2A3D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Tomar la pieza correcta y llevarla hasta su espacio.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6766560" cy="4224528"/>
          </a:xfrm>
          <a:prstGeom prst="roundRect">
            <a:avLst/>
          </a:prstGeom>
          <a:solidFill>
            <a:srgbClr val="F1F5F8"/>
          </a:solidFill>
          <a:ln w="25400">
            <a:solidFill>
              <a:srgbClr val="26BEB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94176" y="3465576"/>
            <a:ext cx="512064" cy="512064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4176" y="3474720"/>
            <a:ext cx="51206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059936"/>
            <a:ext cx="6309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26BEB0"/>
                </a:solidFill>
                <a:latin typeface="Aptos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361688"/>
            <a:ext cx="5943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617084"/>
                </a:solidFill>
                <a:latin typeface="Aptos"/>
              </a:rPr>
              <a:t>reemplazar por screenshot de la escena Insert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10512"/>
            <a:ext cx="3858768" cy="42245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2121408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7E7B"/>
                </a:solidFill>
                <a:latin typeface="Aptos"/>
              </a:rPr>
              <a:t>MECÁNICA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450592"/>
            <a:ext cx="2971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E2A3D"/>
                </a:solidFill>
                <a:latin typeface="Aptos"/>
              </a:rPr>
              <a:t>Encajar piezas</a:t>
            </a:r>
          </a:p>
        </p:txBody>
      </p:sp>
      <p:sp>
        <p:nvSpPr>
          <p:cNvPr id="15" name="Oval 14"/>
          <p:cNvSpPr/>
          <p:nvPr/>
        </p:nvSpPr>
        <p:spPr>
          <a:xfrm>
            <a:off x="8065008" y="3182112"/>
            <a:ext cx="310896" cy="310896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5008" y="3191256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172968"/>
            <a:ext cx="2423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E2A3D"/>
                </a:solidFill>
                <a:latin typeface="Aptos"/>
              </a:rPr>
              <a:t>Agarrar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6" y="3410712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17084"/>
                </a:solidFill>
                <a:latin typeface="Aptos"/>
              </a:rPr>
              <a:t>usar la mano indicada</a:t>
            </a:r>
          </a:p>
        </p:txBody>
      </p:sp>
      <p:sp>
        <p:nvSpPr>
          <p:cNvPr id="19" name="Oval 18"/>
          <p:cNvSpPr/>
          <p:nvPr/>
        </p:nvSpPr>
        <p:spPr>
          <a:xfrm>
            <a:off x="8065008" y="3895344"/>
            <a:ext cx="310896" cy="310896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8" y="3904487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3886200"/>
            <a:ext cx="2423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E2A3D"/>
                </a:solidFill>
                <a:latin typeface="Aptos"/>
              </a:rPr>
              <a:t>Transportar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496" y="4123944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17084"/>
                </a:solidFill>
                <a:latin typeface="Aptos"/>
              </a:rPr>
              <a:t>mantener el control</a:t>
            </a:r>
          </a:p>
        </p:txBody>
      </p:sp>
      <p:sp>
        <p:nvSpPr>
          <p:cNvPr id="23" name="Oval 22"/>
          <p:cNvSpPr/>
          <p:nvPr/>
        </p:nvSpPr>
        <p:spPr>
          <a:xfrm>
            <a:off x="8065008" y="4608576"/>
            <a:ext cx="310896" cy="310896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65008" y="4617720"/>
            <a:ext cx="3108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4599432"/>
            <a:ext cx="24231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E2A3D"/>
                </a:solidFill>
                <a:latin typeface="Aptos"/>
              </a:rPr>
              <a:t>Encajar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4837176"/>
            <a:ext cx="2560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17084"/>
                </a:solidFill>
                <a:latin typeface="Aptos"/>
              </a:rPr>
              <a:t>orientar y completar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5458968"/>
            <a:ext cx="29260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27E7B"/>
                </a:solidFill>
                <a:latin typeface="Aptos"/>
              </a:rPr>
              <a:t>Observa: agarre · rotación · precisión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E312D540-C88D-58FF-F3FE-D4338A56A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219606"/>
            <a:ext cx="6286657" cy="3543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EJERCICIO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O" sz="2700" b="1" dirty="0">
                <a:solidFill>
                  <a:srgbClr val="1E2A3D"/>
                </a:solidFill>
                <a:latin typeface="Aptos"/>
              </a:rPr>
              <a:t>Toque a Toque</a:t>
            </a:r>
            <a:r>
              <a:rPr sz="2700" b="1" i="0" dirty="0">
                <a:solidFill>
                  <a:srgbClr val="1E2A3D"/>
                </a:solidFill>
                <a:latin typeface="Aptos"/>
              </a:rPr>
              <a:t> · </a:t>
            </a:r>
            <a:r>
              <a:rPr sz="2700" b="1" i="0" dirty="0" err="1">
                <a:solidFill>
                  <a:srgbClr val="1E2A3D"/>
                </a:solidFill>
                <a:latin typeface="Aptos"/>
              </a:rPr>
              <a:t>alcance</a:t>
            </a:r>
            <a:r>
              <a:rPr sz="2700" b="1" i="0" dirty="0">
                <a:solidFill>
                  <a:srgbClr val="1E2A3D"/>
                </a:solidFill>
                <a:latin typeface="Aptos"/>
              </a:rPr>
              <a:t> y </a:t>
            </a:r>
            <a:r>
              <a:rPr sz="2700" b="1" i="0" dirty="0" err="1">
                <a:solidFill>
                  <a:srgbClr val="1E2A3D"/>
                </a:solidFill>
                <a:latin typeface="Aptos"/>
              </a:rPr>
              <a:t>reacción</a:t>
            </a:r>
            <a:endParaRPr sz="2700" b="1" i="0" dirty="0">
              <a:solidFill>
                <a:srgbClr val="1E2A3D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Alcanzar objetivos que aparecen en secuencia.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6766560" cy="4224528"/>
          </a:xfrm>
          <a:prstGeom prst="roundRect">
            <a:avLst/>
          </a:prstGeom>
          <a:solidFill>
            <a:srgbClr val="F1F5F8"/>
          </a:solidFill>
          <a:ln w="25400">
            <a:solidFill>
              <a:srgbClr val="437CE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94176" y="3465576"/>
            <a:ext cx="512064" cy="512064"/>
          </a:xfrm>
          <a:prstGeom prst="ellipse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4176" y="3474720"/>
            <a:ext cx="51206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>
                <a:solidFill>
                  <a:srgbClr val="FFFFFF"/>
                </a:solidFill>
                <a:latin typeface="Aptos"/>
              </a:rPr>
              <a:t>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059936"/>
            <a:ext cx="6309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437CE8"/>
                </a:solidFill>
                <a:latin typeface="Aptos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361688"/>
            <a:ext cx="5943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617084"/>
                </a:solidFill>
                <a:latin typeface="Aptos"/>
              </a:rPr>
              <a:t>reemplazar por screenshot de la escena OSU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10512"/>
            <a:ext cx="3858768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2121408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437CE8"/>
                </a:solidFill>
                <a:latin typeface="Aptos"/>
              </a:rPr>
              <a:t>MECÁNICA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450592"/>
            <a:ext cx="30632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E2A3D"/>
                </a:solidFill>
                <a:latin typeface="Aptos"/>
              </a:rPr>
              <a:t>Perseguir el objetivo</a:t>
            </a:r>
          </a:p>
        </p:txBody>
      </p:sp>
      <p:cxnSp>
        <p:nvCxnSpPr>
          <p:cNvPr id="15" name="Connector 14"/>
          <p:cNvCxnSpPr>
            <a:cxnSpLocks/>
            <a:endCxn id="22" idx="1"/>
          </p:cNvCxnSpPr>
          <p:nvPr/>
        </p:nvCxnSpPr>
        <p:spPr>
          <a:xfrm>
            <a:off x="8302752" y="3319272"/>
            <a:ext cx="2726291" cy="943211"/>
          </a:xfrm>
          <a:prstGeom prst="line">
            <a:avLst/>
          </a:prstGeom>
          <a:ln w="25400">
            <a:solidFill>
              <a:srgbClr val="C9D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47888" y="31272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348471" y="3227832"/>
            <a:ext cx="182880" cy="182880"/>
          </a:xfrm>
          <a:prstGeom prst="ellipse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057132" y="396177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6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57716" y="4062362"/>
            <a:ext cx="182880" cy="182880"/>
          </a:xfrm>
          <a:prstGeom prst="ellipse">
            <a:avLst/>
          </a:prstGeom>
          <a:solidFill>
            <a:srgbClr val="8064D2"/>
          </a:solidFill>
          <a:ln w="12700">
            <a:solidFill>
              <a:srgbClr val="806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360151" y="3410713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460734" y="3511296"/>
            <a:ext cx="182880" cy="182880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972800" y="42062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073384" y="4306824"/>
            <a:ext cx="182880" cy="182880"/>
          </a:xfrm>
          <a:prstGeom prst="ellipse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65008" y="4754880"/>
            <a:ext cx="8686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437CE8"/>
                </a:solidFill>
                <a:latin typeface="Aptos"/>
              </a:rPr>
              <a:t>alcanzar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4754880"/>
            <a:ext cx="10515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8064D2"/>
                </a:solidFill>
                <a:latin typeface="Aptos"/>
              </a:rPr>
              <a:t>reaccionar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4754880"/>
            <a:ext cx="8686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6BEB0"/>
                </a:solidFill>
                <a:latin typeface="Aptos"/>
              </a:rPr>
              <a:t>sostener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5458968"/>
            <a:ext cx="2971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437CE8"/>
                </a:solidFill>
                <a:latin typeface="Aptos"/>
              </a:rPr>
              <a:t>Observa: velocidad · precisión · continuidad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F93C9778-1DAA-E063-C8BA-A0E2E37C5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231136"/>
            <a:ext cx="6293384" cy="35629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EJERCICIO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CO" sz="2700" b="1" i="0" dirty="0">
                <a:solidFill>
                  <a:srgbClr val="1E2A3D"/>
                </a:solidFill>
                <a:latin typeface="Aptos"/>
              </a:rPr>
              <a:t>Cazador de patos</a:t>
            </a:r>
            <a:r>
              <a:rPr sz="2700" b="1" i="0" dirty="0">
                <a:solidFill>
                  <a:srgbClr val="1E2A3D"/>
                </a:solidFill>
                <a:latin typeface="Aptos"/>
              </a:rPr>
              <a:t> · </a:t>
            </a:r>
            <a:r>
              <a:rPr sz="2700" b="1" i="0" dirty="0" err="1">
                <a:solidFill>
                  <a:srgbClr val="1E2A3D"/>
                </a:solidFill>
                <a:latin typeface="Aptos"/>
              </a:rPr>
              <a:t>puntería</a:t>
            </a:r>
            <a:r>
              <a:rPr sz="2700" b="1" i="0" dirty="0">
                <a:solidFill>
                  <a:srgbClr val="1E2A3D"/>
                </a:solidFill>
                <a:latin typeface="Aptos"/>
              </a:rPr>
              <a:t> y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Apuntar con la mano y responder en el momento adecuado.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6766560" cy="4224528"/>
          </a:xfrm>
          <a:prstGeom prst="roundRect">
            <a:avLst/>
          </a:prstGeom>
          <a:solidFill>
            <a:srgbClr val="F1F5F8"/>
          </a:solidFill>
          <a:ln w="25400">
            <a:solidFill>
              <a:srgbClr val="F29D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694176" y="3465576"/>
            <a:ext cx="512064" cy="512064"/>
          </a:xfrm>
          <a:prstGeom prst="ellipse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94176" y="3474720"/>
            <a:ext cx="512064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"/>
              </a:rPr>
              <a:t>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059936"/>
            <a:ext cx="6309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29D42"/>
                </a:solidFill>
                <a:latin typeface="Aptos"/>
              </a:rPr>
              <a:t>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361688"/>
            <a:ext cx="59436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0" i="0">
                <a:solidFill>
                  <a:srgbClr val="617084"/>
                </a:solidFill>
                <a:latin typeface="Aptos"/>
              </a:rPr>
              <a:t>reemplazar por screenshot de la escena DuckHunter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810512"/>
            <a:ext cx="3858768" cy="422452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2121408"/>
            <a:ext cx="2926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29D42"/>
                </a:solidFill>
                <a:latin typeface="Aptos"/>
              </a:rPr>
              <a:t>MECÁNICA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450592"/>
            <a:ext cx="29718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E2A3D"/>
                </a:solidFill>
                <a:latin typeface="Aptos"/>
              </a:rPr>
              <a:t>Seguir y apuntar</a:t>
            </a:r>
          </a:p>
        </p:txBody>
      </p:sp>
      <p:sp>
        <p:nvSpPr>
          <p:cNvPr id="15" name="Oval 14"/>
          <p:cNvSpPr/>
          <p:nvPr/>
        </p:nvSpPr>
        <p:spPr>
          <a:xfrm>
            <a:off x="9272016" y="3182112"/>
            <a:ext cx="1042415" cy="1042415"/>
          </a:xfrm>
          <a:prstGeom prst="ellipse">
            <a:avLst/>
          </a:prstGeom>
          <a:noFill/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555480" y="3465576"/>
            <a:ext cx="475488" cy="475488"/>
          </a:xfrm>
          <a:prstGeom prst="ellipse">
            <a:avLst/>
          </a:prstGeom>
          <a:noFill/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9793224" y="3017520"/>
            <a:ext cx="0" cy="1362456"/>
          </a:xfrm>
          <a:prstGeom prst="line">
            <a:avLst/>
          </a:prstGeom>
          <a:ln w="15240">
            <a:solidFill>
              <a:srgbClr val="F29D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25712" y="3703320"/>
            <a:ext cx="1344168" cy="0"/>
          </a:xfrm>
          <a:prstGeom prst="line">
            <a:avLst/>
          </a:prstGeom>
          <a:ln w="15240">
            <a:solidFill>
              <a:srgbClr val="F29D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65008" y="4754880"/>
            <a:ext cx="82296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29D42"/>
                </a:solidFill>
                <a:latin typeface="Aptos"/>
              </a:rPr>
              <a:t>apuntar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4754880"/>
            <a:ext cx="77724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27E7B"/>
                </a:solidFill>
                <a:latin typeface="Aptos"/>
              </a:rPr>
              <a:t>seguir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5872" y="4754880"/>
            <a:ext cx="8686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DC5E8B"/>
                </a:solidFill>
                <a:latin typeface="Aptos"/>
              </a:rPr>
              <a:t>disparar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5008" y="5458968"/>
            <a:ext cx="2971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29D42"/>
                </a:solidFill>
                <a:latin typeface="Aptos"/>
              </a:rPr>
              <a:t>Observa: puntería · postura · aciertos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67FE7FE8-E826-76AC-4992-438FB5BD6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52" y="2103120"/>
            <a:ext cx="6383788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LO QUE SE OBSERVA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E2A3D"/>
                </a:solidFill>
                <a:latin typeface="Aptos"/>
              </a:rPr>
              <a:t>Métricas para acompañar la experiencia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La sesión combina desempeño de la tarea y participación del movimiento.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847088"/>
            <a:ext cx="5120640" cy="41330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76272"/>
            <a:ext cx="2560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7E7B"/>
                </a:solidFill>
                <a:latin typeface="Aptos"/>
              </a:rPr>
              <a:t>USO ARTICULAR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23744"/>
            <a:ext cx="4114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1E2A3D"/>
                </a:solidFill>
                <a:latin typeface="Aptos"/>
              </a:rPr>
              <a:t>¿Qué zona se está usando?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46120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17084"/>
                </a:solidFill>
                <a:latin typeface="Aptos"/>
              </a:rPr>
              <a:t>MANO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84248" y="3273551"/>
            <a:ext cx="3017520" cy="146304"/>
          </a:xfrm>
          <a:prstGeom prst="roundRect">
            <a:avLst/>
          </a:prstGeom>
          <a:solidFill>
            <a:srgbClr val="E7ECF2"/>
          </a:solidFill>
          <a:ln w="12700">
            <a:solidFill>
              <a:srgbClr val="E7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984248" y="3273551"/>
            <a:ext cx="2474366" cy="146304"/>
          </a:xfrm>
          <a:prstGeom prst="roundRect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803904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17084"/>
                </a:solidFill>
                <a:latin typeface="Aptos"/>
              </a:rPr>
              <a:t>MUÑECA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4248" y="3831336"/>
            <a:ext cx="3017520" cy="146304"/>
          </a:xfrm>
          <a:prstGeom prst="roundRect">
            <a:avLst/>
          </a:prstGeom>
          <a:solidFill>
            <a:srgbClr val="E7ECF2"/>
          </a:solidFill>
          <a:ln w="12700">
            <a:solidFill>
              <a:srgbClr val="E7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984248" y="3831336"/>
            <a:ext cx="1659636" cy="146304"/>
          </a:xfrm>
          <a:prstGeom prst="roundRect">
            <a:avLst/>
          </a:prstGeom>
          <a:solidFill>
            <a:srgbClr val="8064D2"/>
          </a:solidFill>
          <a:ln w="12700">
            <a:solidFill>
              <a:srgbClr val="806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4361688"/>
            <a:ext cx="10972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17084"/>
                </a:solidFill>
                <a:latin typeface="Aptos"/>
              </a:rPr>
              <a:t>ANTEBRAZO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84248" y="4389120"/>
            <a:ext cx="3017520" cy="146304"/>
          </a:xfrm>
          <a:prstGeom prst="roundRect">
            <a:avLst/>
          </a:prstGeom>
          <a:solidFill>
            <a:srgbClr val="E7ECF2"/>
          </a:solidFill>
          <a:ln w="12700">
            <a:solidFill>
              <a:srgbClr val="E7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984248" y="4389120"/>
            <a:ext cx="1146657" cy="146304"/>
          </a:xfrm>
          <a:prstGeom prst="roundRect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5102352"/>
            <a:ext cx="38404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17084"/>
                </a:solidFill>
                <a:latin typeface="Aptos"/>
              </a:rPr>
              <a:t>Actividad relativa durante el ejercicio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6752" y="1847088"/>
            <a:ext cx="5577840" cy="4133087"/>
          </a:xfrm>
          <a:prstGeom prst="roundRect">
            <a:avLst/>
          </a:prstGeom>
          <a:solidFill>
            <a:srgbClr val="162743"/>
          </a:solidFill>
          <a:ln w="12700">
            <a:solidFill>
              <a:srgbClr val="16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176272"/>
            <a:ext cx="2560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6BEB0"/>
                </a:solidFill>
                <a:latin typeface="Aptos"/>
              </a:rPr>
              <a:t>FEEDBACK EN VIVO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523744"/>
            <a:ext cx="47548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ptos"/>
              </a:rPr>
              <a:t>Una sugerencia en el momento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273552"/>
            <a:ext cx="480060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629400" y="3493008"/>
            <a:ext cx="475488" cy="475488"/>
          </a:xfrm>
          <a:prstGeom prst="ellipse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29400" y="3502151"/>
            <a:ext cx="4754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456432"/>
            <a:ext cx="34747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E2A3D"/>
                </a:solidFill>
                <a:latin typeface="Aptos"/>
              </a:rPr>
              <a:t>Prueba a involucrar más el antebrazo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3840480"/>
            <a:ext cx="34747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17084"/>
                </a:solidFill>
                <a:latin typeface="Aptos"/>
              </a:rPr>
              <a:t>mensaje breve · máximo 3 sugerencias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645152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B9C8DD"/>
                </a:solidFill>
                <a:latin typeface="Aptos"/>
              </a:rPr>
              <a:t>Feedback final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956048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Resumen del ejercicio y siguiente paso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APORTE ESPERADO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E2A3D"/>
                </a:solidFill>
                <a:latin typeface="Aptos"/>
              </a:rPr>
              <a:t>Un apoyo para guiar y observar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El valor del prototipo está en conectar tarea, movimiento y reflexión.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874519"/>
            <a:ext cx="6784848" cy="404164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12848"/>
            <a:ext cx="22860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27E7B"/>
                </a:solidFill>
                <a:latin typeface="Aptos"/>
              </a:rPr>
              <a:t>APORTA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2761488"/>
            <a:ext cx="457200" cy="457200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788920"/>
            <a:ext cx="1920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E2A3D"/>
                </a:solidFill>
                <a:latin typeface="Aptos"/>
              </a:rPr>
              <a:t>Interacción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081528"/>
            <a:ext cx="2103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17084"/>
                </a:solidFill>
                <a:latin typeface="Aptos"/>
              </a:rPr>
              <a:t>más activa y motivadora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2761488"/>
            <a:ext cx="457200" cy="457200"/>
          </a:xfrm>
          <a:prstGeom prst="ellipse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0" y="277063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88920"/>
            <a:ext cx="1920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E2A3D"/>
                </a:solidFill>
                <a:latin typeface="Aptos"/>
              </a:rPr>
              <a:t>Sin contacto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81528"/>
            <a:ext cx="2103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17084"/>
                </a:solidFill>
                <a:latin typeface="Aptos"/>
              </a:rPr>
              <a:t>no requiere sostener sensores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3995928"/>
            <a:ext cx="457200" cy="457200"/>
          </a:xfrm>
          <a:prstGeom prst="ellipse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00507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23360"/>
            <a:ext cx="1920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E2A3D"/>
                </a:solidFill>
                <a:latin typeface="Aptos"/>
              </a:rPr>
              <a:t>Registro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15968"/>
            <a:ext cx="2103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17084"/>
                </a:solidFill>
                <a:latin typeface="Aptos"/>
              </a:rPr>
              <a:t>datos para observar el desempeño</a:t>
            </a:r>
          </a:p>
        </p:txBody>
      </p:sp>
      <p:sp>
        <p:nvSpPr>
          <p:cNvPr id="21" name="Oval 20"/>
          <p:cNvSpPr/>
          <p:nvPr/>
        </p:nvSpPr>
        <p:spPr>
          <a:xfrm>
            <a:off x="4023360" y="3995928"/>
            <a:ext cx="457200" cy="457200"/>
          </a:xfrm>
          <a:prstGeom prst="ellipse">
            <a:avLst/>
          </a:prstGeom>
          <a:solidFill>
            <a:srgbClr val="DC5E8B"/>
          </a:solidFill>
          <a:ln w="12700">
            <a:solidFill>
              <a:srgbClr val="DC5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0" y="4005072"/>
            <a:ext cx="4572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023360"/>
            <a:ext cx="1920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1" i="0">
                <a:solidFill>
                  <a:srgbClr val="1E2A3D"/>
                </a:solidFill>
                <a:latin typeface="Aptos"/>
              </a:rPr>
              <a:t>Feedback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315968"/>
            <a:ext cx="21031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17084"/>
                </a:solidFill>
                <a:latin typeface="Aptos"/>
              </a:rPr>
              <a:t>orientación durante la tarea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35824" y="1874519"/>
            <a:ext cx="3840480" cy="4041648"/>
          </a:xfrm>
          <a:prstGeom prst="roundRect">
            <a:avLst/>
          </a:prstGeom>
          <a:solidFill>
            <a:srgbClr val="0D182B"/>
          </a:solidFill>
          <a:ln w="12700">
            <a:solidFill>
              <a:srgbClr val="0D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01583" y="2212848"/>
            <a:ext cx="25603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F29D42"/>
                </a:solidFill>
                <a:latin typeface="Aptos"/>
              </a:rPr>
              <a:t>LÍMITE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1583" y="2596896"/>
            <a:ext cx="30175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ptos"/>
              </a:rPr>
              <a:t>No reemplaza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3" y="3364992"/>
            <a:ext cx="2834640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D4DFEE"/>
                </a:solidFill>
                <a:latin typeface="Aptos"/>
              </a:rPr>
              <a:t>diagnóstico
intervención profesional
criterio clínico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5230368"/>
            <a:ext cx="2834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26BEB0"/>
                </a:solidFill>
                <a:latin typeface="Aptos"/>
              </a:rPr>
              <a:t>Es una herramienta de apoyo y exploración.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329184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6BEB0"/>
                </a:solidFill>
                <a:latin typeface="Aptos"/>
              </a:rPr>
              <a:t>LA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987552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1E2A3D"/>
                </a:solidFill>
                <a:latin typeface="Aptos"/>
              </a:rPr>
              <a:t>Hoy evaluamos la experiencia, no a la 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9601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617084"/>
                </a:solidFill>
                <a:latin typeface="Aptos"/>
              </a:rPr>
              <a:t>La observación del usuario nos ayuda a mejorar el prototipo.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47472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617084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2057400"/>
            <a:ext cx="228600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80744" y="2340864"/>
            <a:ext cx="713232" cy="713232"/>
          </a:xfrm>
          <a:prstGeom prst="ellipse">
            <a:avLst/>
          </a:prstGeom>
          <a:solidFill>
            <a:srgbClr val="437CE8"/>
          </a:solidFill>
          <a:ln w="12700">
            <a:solidFill>
              <a:srgbClr val="437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80744" y="2350008"/>
            <a:ext cx="71323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91840"/>
            <a:ext cx="1847088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E2A3D"/>
                </a:solidFill>
                <a:latin typeface="Aptos"/>
              </a:rPr>
              <a:t>Entendimiento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85032"/>
            <a:ext cx="1847088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17084"/>
                </a:solidFill>
                <a:latin typeface="Aptos"/>
              </a:rPr>
              <a:t>¿Las instrucciones se comprenden?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2057400"/>
            <a:ext cx="228600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270248" y="2340864"/>
            <a:ext cx="713232" cy="713232"/>
          </a:xfrm>
          <a:prstGeom prst="ellipse">
            <a:avLst/>
          </a:prstGeom>
          <a:solidFill>
            <a:srgbClr val="26BEB0"/>
          </a:solidFill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2350008"/>
            <a:ext cx="71323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291840"/>
            <a:ext cx="1847088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E2A3D"/>
                </a:solidFill>
                <a:latin typeface="Aptos"/>
              </a:rPr>
              <a:t>Interacción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685032"/>
            <a:ext cx="1847088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17084"/>
                </a:solidFill>
                <a:latin typeface="Aptos"/>
              </a:rPr>
              <a:t>¿La respuesta se siente natural?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057400"/>
            <a:ext cx="228600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59752" y="2340864"/>
            <a:ext cx="713232" cy="713232"/>
          </a:xfrm>
          <a:prstGeom prst="ellipse">
            <a:avLst/>
          </a:prstGeom>
          <a:solidFill>
            <a:srgbClr val="F29D42"/>
          </a:solidFill>
          <a:ln w="12700">
            <a:solidFill>
              <a:srgbClr val="F29D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59752" y="2350008"/>
            <a:ext cx="71323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291840"/>
            <a:ext cx="1847088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E2A3D"/>
                </a:solidFill>
                <a:latin typeface="Aptos"/>
              </a:rPr>
              <a:t>Comodidad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3685032"/>
            <a:ext cx="1847088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17084"/>
                </a:solidFill>
                <a:latin typeface="Aptos"/>
              </a:rPr>
              <a:t>¿La tarea resulta clara y sostenible?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2057400"/>
            <a:ext cx="2286000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49256" y="2340864"/>
            <a:ext cx="713232" cy="713232"/>
          </a:xfrm>
          <a:prstGeom prst="ellipse">
            <a:avLst/>
          </a:prstGeom>
          <a:solidFill>
            <a:srgbClr val="DC5E8B"/>
          </a:solidFill>
          <a:ln w="12700">
            <a:solidFill>
              <a:srgbClr val="DC5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49256" y="2350008"/>
            <a:ext cx="71323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291840"/>
            <a:ext cx="1847088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1E2A3D"/>
                </a:solidFill>
                <a:latin typeface="Aptos"/>
              </a:rPr>
              <a:t>Opinión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685032"/>
            <a:ext cx="1847088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617084"/>
                </a:solidFill>
                <a:latin typeface="Aptos"/>
              </a:rPr>
              <a:t>¿Qué cambiarías?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5102352"/>
            <a:ext cx="9144000" cy="676656"/>
          </a:xfrm>
          <a:prstGeom prst="roundRect">
            <a:avLst/>
          </a:prstGeom>
          <a:solidFill>
            <a:srgbClr val="162743"/>
          </a:solidFill>
          <a:ln w="12700">
            <a:solidFill>
              <a:srgbClr val="16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83080" y="5330952"/>
            <a:ext cx="859536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  <a:latin typeface="Aptos"/>
              </a:rPr>
              <a:t>Durante la prueba: piensa en voz alta · pide repetir instrucciones · detente si lo necesitas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10160">
            <a:solidFill>
              <a:srgbClr val="D8DF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0352" y="656539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17084"/>
                </a:solidFill>
                <a:latin typeface="Aptos"/>
              </a:rPr>
              <a:t>HANDS · pruebas con usuario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2B"/>
          </a:solidFill>
          <a:ln w="12700">
            <a:solidFill>
              <a:srgbClr val="0D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32520" y="914400"/>
            <a:ext cx="2697480" cy="2697480"/>
          </a:xfrm>
          <a:prstGeom prst="ellipse">
            <a:avLst/>
          </a:prstGeom>
          <a:solidFill>
            <a:srgbClr val="162743"/>
          </a:solidFill>
          <a:ln w="12700">
            <a:solidFill>
              <a:srgbClr val="16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45168" y="1527048"/>
            <a:ext cx="1472184" cy="1472184"/>
          </a:xfrm>
          <a:prstGeom prst="ellipse">
            <a:avLst/>
          </a:prstGeom>
          <a:noFill/>
          <a:ln w="12700">
            <a:solidFill>
              <a:srgbClr val="26B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0085832" y="1188720"/>
            <a:ext cx="0" cy="2148840"/>
          </a:xfrm>
          <a:prstGeom prst="line">
            <a:avLst/>
          </a:prstGeom>
          <a:ln w="15240">
            <a:solidFill>
              <a:srgbClr val="26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06840" y="2267712"/>
            <a:ext cx="2148840" cy="0"/>
          </a:xfrm>
          <a:prstGeom prst="line">
            <a:avLst/>
          </a:prstGeom>
          <a:ln w="15240">
            <a:solidFill>
              <a:srgbClr val="26B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1097280"/>
            <a:ext cx="4023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26BEB0"/>
                </a:solidFill>
                <a:latin typeface="Aptos"/>
              </a:rPr>
              <a:t>LISTOS PARA PROBAR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64208"/>
            <a:ext cx="694944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"/>
              </a:rPr>
              <a:t>Hagamos visible
el movimiento.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73552"/>
            <a:ext cx="630936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4DFEE"/>
                </a:solidFill>
                <a:latin typeface="Aptos"/>
              </a:rPr>
              <a:t>La meta de esta sesión es aprender de la experiencia de cada usuario y seguir mejorando Hands.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257800"/>
            <a:ext cx="3383280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26BEB0"/>
                </a:solidFill>
                <a:latin typeface="Aptos"/>
              </a:rPr>
              <a:t>¿Comenzamos?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3968" y="5907024"/>
            <a:ext cx="502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 i="0">
                <a:solidFill>
                  <a:srgbClr val="B9C8DD"/>
                </a:solidFill>
                <a:latin typeface="Aptos"/>
              </a:rPr>
              <a:t>13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F8C2673-9919-3410-9B16-1692F2BE3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70" y="3950208"/>
            <a:ext cx="2395726" cy="23957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779</Words>
  <Application>Microsoft Office PowerPoint</Application>
  <PresentationFormat>Panorámica</PresentationFormat>
  <Paragraphs>214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CRISTIAN SANTIAGO RIOS VASQUEZ</cp:lastModifiedBy>
  <cp:revision>5</cp:revision>
  <dcterms:created xsi:type="dcterms:W3CDTF">2013-01-27T09:14:16Z</dcterms:created>
  <dcterms:modified xsi:type="dcterms:W3CDTF">2026-09-09T22:28:07Z</dcterms:modified>
  <cp:category/>
</cp:coreProperties>
</file>